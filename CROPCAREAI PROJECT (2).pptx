
<file path=[Content_Types].xml><?xml version="1.0" encoding="utf-8"?>
<Types xmlns="http://schemas.openxmlformats.org/package/2006/content-types">
  <Default Extension="jfif" ContentType="image/jpe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62" r:id="rId4"/>
    <p:sldId id="265" r:id="rId5"/>
    <p:sldId id="264" r:id="rId6"/>
    <p:sldId id="266" r:id="rId7"/>
    <p:sldId id="267"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85" autoAdjust="0"/>
    <p:restoredTop sz="94660"/>
  </p:normalViewPr>
  <p:slideViewPr>
    <p:cSldViewPr snapToGrid="0">
      <p:cViewPr varScale="1">
        <p:scale>
          <a:sx n="74" d="100"/>
          <a:sy n="74" d="100"/>
        </p:scale>
        <p:origin x="49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dirty="0"/>
              <a:t>2/9/2026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2/9/2026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2/9/2026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2/9/2026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smtClean="0"/>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dirty="0"/>
              <a:t>2/9/2026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2/9/2026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dirty="0"/>
              <a:t>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2/9/2026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65" r:id="rId4"/>
    <p:sldLayoutId id="2147483653" r:id="rId5"/>
    <p:sldLayoutId id="2147483654" r:id="rId6"/>
    <p:sldLayoutId id="2147483655" r:id="rId7"/>
    <p:sldLayoutId id="2147483666" r:id="rId8"/>
    <p:sldLayoutId id="2147483657" r:id="rId9"/>
    <p:sldLayoutId id="2147483660" r:id="rId10"/>
    <p:sldLayoutId id="2147483661" r:id="rId11"/>
    <p:sldLayoutId id="2147483662" r:id="rId12"/>
    <p:sldLayoutId id="2147483663" r:id="rId13"/>
    <p:sldLayoutId id="2147483664" r:id="rId14"/>
    <p:sldLayoutId id="2147483667" r:id="rId15"/>
    <p:sldLayoutId id="2147483659"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8853" y="3073608"/>
            <a:ext cx="6529150" cy="1646302"/>
          </a:xfrm>
        </p:spPr>
        <p:txBody>
          <a:bodyPr/>
          <a:lstStyle/>
          <a:p>
            <a:pPr algn="ctr"/>
            <a:r>
              <a:rPr lang="en-US" b="1" dirty="0" smtClean="0">
                <a:solidFill>
                  <a:schemeClr val="tx1"/>
                </a:solidFill>
              </a:rPr>
              <a:t>CROP DISEASE DETECTION SYSTEM</a:t>
            </a:r>
            <a:r>
              <a:rPr lang="en-US" dirty="0" smtClean="0">
                <a:solidFill>
                  <a:schemeClr val="tx1"/>
                </a:solidFill>
              </a:rPr>
              <a:t>   </a:t>
            </a:r>
            <a:endParaRPr lang="en-IN" dirty="0">
              <a:solidFill>
                <a:schemeClr val="tx1"/>
              </a:solidFill>
            </a:endParaRPr>
          </a:p>
        </p:txBody>
      </p:sp>
      <p:sp>
        <p:nvSpPr>
          <p:cNvPr id="3" name="Subtitle 2"/>
          <p:cNvSpPr>
            <a:spLocks noGrp="1"/>
          </p:cNvSpPr>
          <p:nvPr>
            <p:ph type="subTitle" idx="1"/>
          </p:nvPr>
        </p:nvSpPr>
        <p:spPr>
          <a:xfrm>
            <a:off x="-778933" y="4563789"/>
            <a:ext cx="7766936" cy="1096899"/>
          </a:xfrm>
        </p:spPr>
        <p:txBody>
          <a:bodyPr>
            <a:normAutofit fontScale="25000" lnSpcReduction="20000"/>
          </a:bodyPr>
          <a:lstStyle/>
          <a:p>
            <a:endParaRPr lang="en-US" dirty="0" smtClean="0"/>
          </a:p>
          <a:p>
            <a:endParaRPr lang="en-US" dirty="0" smtClean="0"/>
          </a:p>
          <a:p>
            <a:endParaRPr lang="en-US" dirty="0" smtClean="0"/>
          </a:p>
          <a:p>
            <a:endParaRPr lang="en-US" dirty="0"/>
          </a:p>
          <a:p>
            <a:r>
              <a:rPr lang="en-US" sz="7200" b="1" dirty="0" smtClean="0">
                <a:latin typeface="Times New Roman" panose="02020603050405020304" pitchFamily="18" charset="0"/>
                <a:cs typeface="Times New Roman" panose="02020603050405020304" pitchFamily="18" charset="0"/>
              </a:rPr>
              <a:t>-Mr. NILESH THORAT SIR</a:t>
            </a:r>
            <a:endParaRPr lang="en-IN" sz="7200" b="1"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09199" y="133676"/>
            <a:ext cx="3409950" cy="1527699"/>
          </a:xfrm>
          <a:prstGeom prst="rect">
            <a:avLst/>
          </a:prstGeom>
        </p:spPr>
      </p:pic>
    </p:spTree>
    <p:extLst>
      <p:ext uri="{BB962C8B-B14F-4D97-AF65-F5344CB8AC3E}">
        <p14:creationId xmlns:p14="http://schemas.microsoft.com/office/powerpoint/2010/main" val="371679144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9704" y="263913"/>
            <a:ext cx="8596668" cy="1320800"/>
          </a:xfrm>
        </p:spPr>
        <p:txBody>
          <a:bodyPr/>
          <a:lstStyle/>
          <a:p>
            <a:r>
              <a:rPr lang="en-US" b="1" dirty="0" smtClean="0">
                <a:solidFill>
                  <a:schemeClr val="tx1"/>
                </a:solidFill>
              </a:rPr>
              <a:t>GROUP MEMBERS:-</a:t>
            </a:r>
            <a:endParaRPr lang="en-IN" b="1" dirty="0">
              <a:solidFill>
                <a:schemeClr val="tx1"/>
              </a:solidFill>
            </a:endParaRPr>
          </a:p>
        </p:txBody>
      </p:sp>
      <p:sp>
        <p:nvSpPr>
          <p:cNvPr id="3" name="Content Placeholder 2"/>
          <p:cNvSpPr>
            <a:spLocks noGrp="1"/>
          </p:cNvSpPr>
          <p:nvPr>
            <p:ph idx="1"/>
          </p:nvPr>
        </p:nvSpPr>
        <p:spPr/>
        <p:txBody>
          <a:bodyPr/>
          <a:lstStyle/>
          <a:p>
            <a:endParaRPr lang="en-US" dirty="0"/>
          </a:p>
          <a:p>
            <a:r>
              <a:rPr lang="en-US" sz="2400" dirty="0" err="1" smtClean="0">
                <a:latin typeface="Times New Roman" panose="02020603050405020304" pitchFamily="18" charset="0"/>
                <a:cs typeface="Times New Roman" panose="02020603050405020304" pitchFamily="18" charset="0"/>
              </a:rPr>
              <a:t>Gayatri</a:t>
            </a:r>
            <a:r>
              <a:rPr lang="en-US" sz="2400" dirty="0" smtClean="0">
                <a:latin typeface="Times New Roman" panose="02020603050405020304" pitchFamily="18" charset="0"/>
                <a:cs typeface="Times New Roman" panose="02020603050405020304" pitchFamily="18" charset="0"/>
              </a:rPr>
              <a:t> Shivaji Mali                             3024</a:t>
            </a:r>
          </a:p>
          <a:p>
            <a:r>
              <a:rPr lang="en-US" sz="2400" dirty="0" err="1" smtClean="0">
                <a:latin typeface="Times New Roman" panose="02020603050405020304" pitchFamily="18" charset="0"/>
                <a:cs typeface="Times New Roman" panose="02020603050405020304" pitchFamily="18" charset="0"/>
              </a:rPr>
              <a:t>Vaishnavi</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Vijaykumar</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Sanade</a:t>
            </a:r>
            <a:r>
              <a:rPr lang="en-US" sz="2400" dirty="0" smtClean="0">
                <a:latin typeface="Times New Roman" panose="02020603050405020304" pitchFamily="18" charset="0"/>
                <a:cs typeface="Times New Roman" panose="02020603050405020304" pitchFamily="18" charset="0"/>
              </a:rPr>
              <a:t>             3038</a:t>
            </a:r>
          </a:p>
          <a:p>
            <a:r>
              <a:rPr lang="en-US" sz="2400" dirty="0" err="1" smtClean="0">
                <a:latin typeface="Times New Roman" panose="02020603050405020304" pitchFamily="18" charset="0"/>
                <a:cs typeface="Times New Roman" panose="02020603050405020304" pitchFamily="18" charset="0"/>
              </a:rPr>
              <a:t>Priyanka</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Raju</a:t>
            </a:r>
            <a:r>
              <a:rPr lang="en-US" sz="2400" dirty="0" smtClean="0">
                <a:latin typeface="Times New Roman" panose="02020603050405020304" pitchFamily="18" charset="0"/>
                <a:cs typeface="Times New Roman" panose="02020603050405020304" pitchFamily="18" charset="0"/>
              </a:rPr>
              <a:t> Mohole                         3051</a:t>
            </a:r>
          </a:p>
          <a:p>
            <a:r>
              <a:rPr lang="en-US" sz="2400" dirty="0" err="1" smtClean="0">
                <a:latin typeface="Times New Roman" panose="02020603050405020304" pitchFamily="18" charset="0"/>
                <a:cs typeface="Times New Roman" panose="02020603050405020304" pitchFamily="18" charset="0"/>
              </a:rPr>
              <a:t>Rutuja</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Rohit</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Sangar</a:t>
            </a:r>
            <a:r>
              <a:rPr lang="en-US" sz="2400" dirty="0" smtClean="0">
                <a:latin typeface="Times New Roman" panose="02020603050405020304" pitchFamily="18" charset="0"/>
                <a:cs typeface="Times New Roman" panose="02020603050405020304" pitchFamily="18" charset="0"/>
              </a:rPr>
              <a:t>                            3044</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0584173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chemeClr val="tx1"/>
                </a:solidFill>
              </a:rPr>
              <a:t>PROBLEM STATEMENT:-</a:t>
            </a:r>
            <a:endParaRPr lang="en-IN" b="1" dirty="0">
              <a:solidFill>
                <a:schemeClr val="tx1"/>
              </a:solidFill>
            </a:endParaRPr>
          </a:p>
        </p:txBody>
      </p:sp>
      <p:sp>
        <p:nvSpPr>
          <p:cNvPr id="3" name="Content Placeholder 2"/>
          <p:cNvSpPr>
            <a:spLocks noGrp="1"/>
          </p:cNvSpPr>
          <p:nvPr>
            <p:ph idx="1"/>
          </p:nvPr>
        </p:nvSpPr>
        <p:spPr/>
        <p:txBody>
          <a:bodyPr>
            <a:normAutofit/>
          </a:bodyPr>
          <a:lstStyle/>
          <a:p>
            <a:r>
              <a:rPr lang="en-US" sz="2400" dirty="0">
                <a:latin typeface="Times New Roman" panose="02020603050405020304" pitchFamily="18" charset="0"/>
                <a:cs typeface="Times New Roman" panose="02020603050405020304" pitchFamily="18" charset="0"/>
              </a:rPr>
              <a:t>Farmers often find it difficult to identify plant diseases at an early stage. Many diseases look similar, and not all farmers have expert knowledge to recognize them correctly. Checking plants manually takes a lot of time and can lead to mistakes. If the disease is not detected early, it can cause serious damage to crops and reduce </a:t>
            </a:r>
            <a:r>
              <a:rPr lang="en-US" sz="2400" dirty="0" smtClean="0">
                <a:latin typeface="Times New Roman" panose="02020603050405020304" pitchFamily="18" charset="0"/>
                <a:cs typeface="Times New Roman" panose="02020603050405020304" pitchFamily="18" charset="0"/>
              </a:rPr>
              <a:t>yield.</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596835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tx1"/>
                </a:solidFill>
              </a:rPr>
              <a:t>OBJECTIVE:-</a:t>
            </a:r>
            <a:endParaRPr lang="en-IN" b="1" dirty="0">
              <a:solidFill>
                <a:schemeClr val="tx1"/>
              </a:solidFill>
            </a:endParaRPr>
          </a:p>
        </p:txBody>
      </p:sp>
      <p:sp>
        <p:nvSpPr>
          <p:cNvPr id="3" name="Content Placeholder 2"/>
          <p:cNvSpPr>
            <a:spLocks noGrp="1"/>
          </p:cNvSpPr>
          <p:nvPr>
            <p:ph idx="1"/>
          </p:nvPr>
        </p:nvSpPr>
        <p:spPr>
          <a:xfrm>
            <a:off x="677334" y="1582057"/>
            <a:ext cx="8596668" cy="5471886"/>
          </a:xfrm>
        </p:spPr>
        <p:txBody>
          <a:bodyPr>
            <a:normAutofit lnSpcReduction="10000"/>
          </a:bodyPr>
          <a:lstStyle/>
          <a:p>
            <a:pPr lvl="0"/>
            <a:r>
              <a:rPr lang="en-US" sz="2400" dirty="0">
                <a:solidFill>
                  <a:schemeClr val="tx1"/>
                </a:solidFill>
                <a:latin typeface="Times New Roman" panose="02020603050405020304" pitchFamily="18" charset="0"/>
                <a:cs typeface="Times New Roman" panose="02020603050405020304" pitchFamily="18" charset="0"/>
              </a:rPr>
              <a:t>To detect plant diseases using leaf </a:t>
            </a:r>
            <a:r>
              <a:rPr lang="en-US" sz="2400" dirty="0" smtClean="0">
                <a:solidFill>
                  <a:schemeClr val="tx1"/>
                </a:solidFill>
                <a:latin typeface="Times New Roman" panose="02020603050405020304" pitchFamily="18" charset="0"/>
                <a:cs typeface="Times New Roman" panose="02020603050405020304" pitchFamily="18" charset="0"/>
              </a:rPr>
              <a:t>images.</a:t>
            </a:r>
          </a:p>
          <a:p>
            <a:pPr lvl="0"/>
            <a:endParaRPr lang="en-US" sz="2400" dirty="0">
              <a:solidFill>
                <a:schemeClr val="tx1"/>
              </a:solidFill>
              <a:latin typeface="Times New Roman" panose="02020603050405020304" pitchFamily="18" charset="0"/>
              <a:cs typeface="Times New Roman" panose="02020603050405020304" pitchFamily="18" charset="0"/>
            </a:endParaRPr>
          </a:p>
          <a:p>
            <a:pPr lvl="0"/>
            <a:r>
              <a:rPr lang="en-US" sz="2400" dirty="0" smtClean="0">
                <a:latin typeface="Times New Roman" panose="02020603050405020304" pitchFamily="18" charset="0"/>
                <a:cs typeface="Times New Roman" panose="02020603050405020304" pitchFamily="18" charset="0"/>
              </a:rPr>
              <a:t>To develop a scalable architecture that allows easy addition of new crops and diseases in the feature.</a:t>
            </a:r>
          </a:p>
          <a:p>
            <a:pPr lvl="0"/>
            <a:endParaRPr lang="en-US" sz="2400" dirty="0">
              <a:latin typeface="Times New Roman" panose="02020603050405020304" pitchFamily="18" charset="0"/>
              <a:cs typeface="Times New Roman" panose="02020603050405020304" pitchFamily="18" charset="0"/>
            </a:endParaRPr>
          </a:p>
          <a:p>
            <a:pPr lvl="0"/>
            <a:r>
              <a:rPr lang="en-US" sz="2400" dirty="0" smtClean="0">
                <a:latin typeface="Times New Roman" panose="02020603050405020304" pitchFamily="18" charset="0"/>
                <a:cs typeface="Times New Roman" panose="02020603050405020304" pitchFamily="18" charset="0"/>
              </a:rPr>
              <a:t>To develop user friendly application interface enabling farmers to upload images to receive instant and future diagnosis  results.</a:t>
            </a:r>
          </a:p>
          <a:p>
            <a:pPr lvl="0"/>
            <a:endParaRPr lang="en-US" sz="2400" dirty="0">
              <a:latin typeface="Times New Roman" panose="02020603050405020304" pitchFamily="18" charset="0"/>
              <a:cs typeface="Times New Roman" panose="02020603050405020304" pitchFamily="18" charset="0"/>
            </a:endParaRPr>
          </a:p>
          <a:p>
            <a:pPr lvl="0"/>
            <a:r>
              <a:rPr lang="en-US" sz="2400" dirty="0" smtClean="0">
                <a:latin typeface="Times New Roman" panose="02020603050405020304" pitchFamily="18" charset="0"/>
                <a:cs typeface="Times New Roman" panose="02020603050405020304" pitchFamily="18" charset="0"/>
              </a:rPr>
              <a:t>To suggest treatment and prevention suggestions.</a:t>
            </a:r>
          </a:p>
          <a:p>
            <a:pPr lvl="0"/>
            <a:endParaRPr lang="en-US" sz="2400" dirty="0">
              <a:latin typeface="Times New Roman" panose="02020603050405020304" pitchFamily="18" charset="0"/>
              <a:cs typeface="Times New Roman" panose="02020603050405020304" pitchFamily="18" charset="0"/>
            </a:endParaRPr>
          </a:p>
          <a:p>
            <a:pPr lvl="0"/>
            <a:r>
              <a:rPr lang="en-US" sz="2400" dirty="0" smtClean="0">
                <a:latin typeface="Times New Roman" panose="02020603050405020304" pitchFamily="18" charset="0"/>
                <a:cs typeface="Times New Roman" panose="02020603050405020304" pitchFamily="18" charset="0"/>
              </a:rPr>
              <a:t>To develop a cost-effective AI solution that </a:t>
            </a:r>
            <a:r>
              <a:rPr lang="en-US" sz="2400" dirty="0" err="1" smtClean="0">
                <a:latin typeface="Times New Roman" panose="02020603050405020304" pitchFamily="18" charset="0"/>
                <a:cs typeface="Times New Roman" panose="02020603050405020304" pitchFamily="18" charset="0"/>
              </a:rPr>
              <a:t>reduses</a:t>
            </a:r>
            <a:r>
              <a:rPr lang="en-US" sz="2400" dirty="0" smtClean="0">
                <a:latin typeface="Times New Roman" panose="02020603050405020304" pitchFamily="18" charset="0"/>
                <a:cs typeface="Times New Roman" panose="02020603050405020304" pitchFamily="18" charset="0"/>
              </a:rPr>
              <a:t> reliance on manual inspection and expert intervention .</a:t>
            </a:r>
            <a:endParaRPr lang="en-US" dirty="0"/>
          </a:p>
          <a:p>
            <a:pPr lvl="0"/>
            <a:endParaRPr lang="en-US" dirty="0" smtClean="0"/>
          </a:p>
          <a:p>
            <a:pPr lvl="0"/>
            <a:endParaRPr lang="en-US" dirty="0" smtClean="0"/>
          </a:p>
          <a:p>
            <a:pPr marL="0" lvl="0" indent="0">
              <a:buNone/>
            </a:pPr>
            <a:endParaRPr lang="en-US" dirty="0">
              <a:solidFill>
                <a:schemeClr val="tx1"/>
              </a:solidFill>
              <a:latin typeface="Arial" panose="020B0604020202020204" pitchFamily="34" charset="0"/>
            </a:endParaRPr>
          </a:p>
          <a:p>
            <a:pPr lvl="0"/>
            <a:endParaRPr lang="en-US" dirty="0">
              <a:solidFill>
                <a:schemeClr val="tx1"/>
              </a:solidFill>
              <a:latin typeface="Arial" panose="020B0604020202020204" pitchFamily="34" charset="0"/>
            </a:endParaRPr>
          </a:p>
          <a:p>
            <a:pPr lvl="0"/>
            <a:endParaRPr lang="en-US" dirty="0" smtClean="0">
              <a:solidFill>
                <a:schemeClr val="tx1"/>
              </a:solidFill>
              <a:latin typeface="Arial" panose="020B0604020202020204" pitchFamily="34" charset="0"/>
            </a:endParaRPr>
          </a:p>
          <a:p>
            <a:endParaRPr lang="en-IN" dirty="0"/>
          </a:p>
        </p:txBody>
      </p:sp>
      <p:sp>
        <p:nvSpPr>
          <p:cNvPr id="5" name="Rectangle 2"/>
          <p:cNvSpPr>
            <a:spLocks noChangeArrowheads="1"/>
          </p:cNvSpPr>
          <p:nvPr/>
        </p:nvSpPr>
        <p:spPr bwMode="auto">
          <a:xfrm>
            <a:off x="0" y="-230189"/>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anose="020B0604020202020204" pitchFamily="34" charset="0"/>
            </a:endParaRPr>
          </a:p>
        </p:txBody>
      </p:sp>
      <p:sp>
        <p:nvSpPr>
          <p:cNvPr id="6" name="Rectangle 3"/>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9982248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9773" y="0"/>
            <a:ext cx="3854528" cy="1278466"/>
          </a:xfrm>
        </p:spPr>
        <p:txBody>
          <a:bodyPr>
            <a:normAutofit/>
          </a:bodyPr>
          <a:lstStyle/>
          <a:p>
            <a:r>
              <a:rPr lang="en-US" sz="3600" b="1" dirty="0" smtClean="0">
                <a:solidFill>
                  <a:schemeClr val="tx1"/>
                </a:solidFill>
              </a:rPr>
              <a:t>Proposed Solution :-</a:t>
            </a:r>
            <a:endParaRPr lang="en-IN" sz="3600" b="1" dirty="0">
              <a:solidFill>
                <a:schemeClr val="tx1"/>
              </a:solidFill>
            </a:endParaRPr>
          </a:p>
        </p:txBody>
      </p:sp>
      <p:sp>
        <p:nvSpPr>
          <p:cNvPr id="3" name="Content Placeholder 2"/>
          <p:cNvSpPr>
            <a:spLocks noGrp="1"/>
          </p:cNvSpPr>
          <p:nvPr>
            <p:ph idx="1"/>
          </p:nvPr>
        </p:nvSpPr>
        <p:spPr/>
        <p:txBody>
          <a:bodyPr>
            <a:normAutofit/>
          </a:bodyPr>
          <a:lstStyle/>
          <a:p>
            <a:r>
              <a:rPr lang="en-US" sz="2400" dirty="0">
                <a:latin typeface="Times New Roman" panose="02020603050405020304" pitchFamily="18" charset="0"/>
                <a:cs typeface="Times New Roman" panose="02020603050405020304" pitchFamily="18" charset="0"/>
              </a:rPr>
              <a:t>To solve this problem, there is a need for a simple and </a:t>
            </a:r>
            <a:r>
              <a:rPr lang="en-US" sz="2400" b="1" dirty="0">
                <a:latin typeface="Times New Roman" panose="02020603050405020304" pitchFamily="18" charset="0"/>
                <a:cs typeface="Times New Roman" panose="02020603050405020304" pitchFamily="18" charset="0"/>
              </a:rPr>
              <a:t>automatic</a:t>
            </a:r>
            <a:r>
              <a:rPr lang="en-US" sz="2400" dirty="0">
                <a:latin typeface="Times New Roman" panose="02020603050405020304" pitchFamily="18" charset="0"/>
                <a:cs typeface="Times New Roman" panose="02020603050405020304" pitchFamily="18" charset="0"/>
              </a:rPr>
              <a:t> system that can identify plant diseases quickly and accurately. </a:t>
            </a:r>
            <a:endParaRPr lang="en-US" sz="2400" dirty="0" smtClean="0">
              <a:latin typeface="Times New Roman" panose="02020603050405020304" pitchFamily="18" charset="0"/>
              <a:cs typeface="Times New Roman" panose="02020603050405020304" pitchFamily="18" charset="0"/>
            </a:endParaRPr>
          </a:p>
          <a:p>
            <a:r>
              <a:rPr lang="en-US" sz="2400" dirty="0" smtClean="0">
                <a:latin typeface="Times New Roman" panose="02020603050405020304" pitchFamily="18" charset="0"/>
                <a:cs typeface="Times New Roman" panose="02020603050405020304" pitchFamily="18" charset="0"/>
              </a:rPr>
              <a:t>This </a:t>
            </a:r>
            <a:r>
              <a:rPr lang="en-US" sz="2400" dirty="0">
                <a:latin typeface="Times New Roman" panose="02020603050405020304" pitchFamily="18" charset="0"/>
                <a:cs typeface="Times New Roman" panose="02020603050405020304" pitchFamily="18" charset="0"/>
              </a:rPr>
              <a:t>project uses </a:t>
            </a:r>
            <a:r>
              <a:rPr lang="en-US" sz="2400" b="1" dirty="0">
                <a:latin typeface="Times New Roman" panose="02020603050405020304" pitchFamily="18" charset="0"/>
                <a:cs typeface="Times New Roman" panose="02020603050405020304" pitchFamily="18" charset="0"/>
              </a:rPr>
              <a:t>artificial intelligence</a:t>
            </a:r>
            <a:r>
              <a:rPr lang="en-US" sz="2400" dirty="0">
                <a:latin typeface="Times New Roman" panose="02020603050405020304" pitchFamily="18" charset="0"/>
                <a:cs typeface="Times New Roman" panose="02020603050405020304" pitchFamily="18" charset="0"/>
              </a:rPr>
              <a:t> to detect plant diseases from leaf images and provide proper treatment suggestions. </a:t>
            </a:r>
            <a:endParaRPr lang="en-US" sz="2400" dirty="0" smtClean="0">
              <a:latin typeface="Times New Roman" panose="02020603050405020304" pitchFamily="18" charset="0"/>
              <a:cs typeface="Times New Roman" panose="02020603050405020304" pitchFamily="18" charset="0"/>
            </a:endParaRPr>
          </a:p>
          <a:p>
            <a:r>
              <a:rPr lang="en-US" sz="2400" dirty="0" smtClean="0">
                <a:latin typeface="Times New Roman" panose="02020603050405020304" pitchFamily="18" charset="0"/>
                <a:cs typeface="Times New Roman" panose="02020603050405020304" pitchFamily="18" charset="0"/>
              </a:rPr>
              <a:t>The </a:t>
            </a:r>
            <a:r>
              <a:rPr lang="en-US" sz="2400" dirty="0">
                <a:latin typeface="Times New Roman" panose="02020603050405020304" pitchFamily="18" charset="0"/>
                <a:cs typeface="Times New Roman" panose="02020603050405020304" pitchFamily="18" charset="0"/>
              </a:rPr>
              <a:t>system helps farmers take timely action and improve crop production.</a:t>
            </a:r>
            <a:endParaRPr lang="en-IN" sz="2400" dirty="0">
              <a:latin typeface="Times New Roman" panose="02020603050405020304" pitchFamily="18" charset="0"/>
              <a:cs typeface="Times New Roman" panose="02020603050405020304" pitchFamily="18" charset="0"/>
            </a:endParaRPr>
          </a:p>
        </p:txBody>
      </p:sp>
      <p:sp>
        <p:nvSpPr>
          <p:cNvPr id="4" name="Text Placeholder 3"/>
          <p:cNvSpPr>
            <a:spLocks noGrp="1"/>
          </p:cNvSpPr>
          <p:nvPr>
            <p:ph type="body" sz="half" idx="2"/>
          </p:nvPr>
        </p:nvSpPr>
        <p:spPr/>
        <p:txBody>
          <a:bodyPr/>
          <a:lstStyle/>
          <a:p>
            <a:endParaRPr lang="en-IN"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7334" y="2777070"/>
            <a:ext cx="3854528" cy="2584448"/>
          </a:xfrm>
          <a:prstGeom prst="rect">
            <a:avLst/>
          </a:prstGeom>
        </p:spPr>
      </p:pic>
    </p:spTree>
    <p:extLst>
      <p:ext uri="{BB962C8B-B14F-4D97-AF65-F5344CB8AC3E}">
        <p14:creationId xmlns:p14="http://schemas.microsoft.com/office/powerpoint/2010/main" val="93844805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886749" y="1396557"/>
            <a:ext cx="2440549" cy="518371"/>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t>Upload Leaf Image</a:t>
            </a:r>
            <a:endParaRPr lang="en-IN" dirty="0"/>
          </a:p>
        </p:txBody>
      </p:sp>
      <p:sp>
        <p:nvSpPr>
          <p:cNvPr id="3" name="Oval 2"/>
          <p:cNvSpPr/>
          <p:nvPr/>
        </p:nvSpPr>
        <p:spPr>
          <a:xfrm>
            <a:off x="2374561" y="133314"/>
            <a:ext cx="1455313" cy="785611"/>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t>START</a:t>
            </a:r>
            <a:endParaRPr lang="en-IN" dirty="0"/>
          </a:p>
        </p:txBody>
      </p:sp>
      <p:sp>
        <p:nvSpPr>
          <p:cNvPr id="7" name="Rectangle 6"/>
          <p:cNvSpPr/>
          <p:nvPr/>
        </p:nvSpPr>
        <p:spPr>
          <a:xfrm>
            <a:off x="1886750" y="2339929"/>
            <a:ext cx="2440549" cy="577133"/>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t>Image Preprocessing</a:t>
            </a:r>
            <a:endParaRPr lang="en-IN" dirty="0"/>
          </a:p>
        </p:txBody>
      </p:sp>
      <p:sp>
        <p:nvSpPr>
          <p:cNvPr id="8" name="Rectangle 7"/>
          <p:cNvSpPr/>
          <p:nvPr/>
        </p:nvSpPr>
        <p:spPr>
          <a:xfrm>
            <a:off x="1886751" y="3248694"/>
            <a:ext cx="2440549" cy="51515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t>API Request </a:t>
            </a:r>
            <a:endParaRPr lang="en-IN" dirty="0"/>
          </a:p>
        </p:txBody>
      </p:sp>
      <p:sp>
        <p:nvSpPr>
          <p:cNvPr id="9" name="Rectangle 8"/>
          <p:cNvSpPr/>
          <p:nvPr/>
        </p:nvSpPr>
        <p:spPr>
          <a:xfrm>
            <a:off x="1886751" y="4070526"/>
            <a:ext cx="2440549" cy="66326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mtClean="0"/>
              <a:t>ML</a:t>
            </a:r>
            <a:r>
              <a:rPr lang="en-US" smtClean="0"/>
              <a:t> </a:t>
            </a:r>
            <a:r>
              <a:rPr lang="en-US" smtClean="0"/>
              <a:t>Analysis </a:t>
            </a:r>
            <a:r>
              <a:rPr lang="en-US" smtClean="0"/>
              <a:t>and AI </a:t>
            </a:r>
            <a:r>
              <a:rPr lang="en-US" dirty="0" smtClean="0"/>
              <a:t>Response</a:t>
            </a:r>
            <a:endParaRPr lang="en-IN" dirty="0"/>
          </a:p>
        </p:txBody>
      </p:sp>
      <p:cxnSp>
        <p:nvCxnSpPr>
          <p:cNvPr id="17" name="Straight Arrow Connector 16"/>
          <p:cNvCxnSpPr>
            <a:stCxn id="3" idx="4"/>
            <a:endCxn id="2" idx="0"/>
          </p:cNvCxnSpPr>
          <p:nvPr/>
        </p:nvCxnSpPr>
        <p:spPr>
          <a:xfrm>
            <a:off x="3102218" y="918925"/>
            <a:ext cx="4806" cy="47763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0" name="Straight Arrow Connector 19"/>
          <p:cNvCxnSpPr>
            <a:stCxn id="2" idx="2"/>
          </p:cNvCxnSpPr>
          <p:nvPr/>
        </p:nvCxnSpPr>
        <p:spPr>
          <a:xfrm>
            <a:off x="3107024" y="1914928"/>
            <a:ext cx="17714" cy="41614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2" name="Straight Arrow Connector 21"/>
          <p:cNvCxnSpPr>
            <a:stCxn id="7" idx="2"/>
            <a:endCxn id="8" idx="0"/>
          </p:cNvCxnSpPr>
          <p:nvPr/>
        </p:nvCxnSpPr>
        <p:spPr>
          <a:xfrm>
            <a:off x="3107025" y="2917062"/>
            <a:ext cx="1" cy="33163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4" name="Straight Arrow Connector 23"/>
          <p:cNvCxnSpPr>
            <a:stCxn id="8" idx="2"/>
            <a:endCxn id="8" idx="2"/>
          </p:cNvCxnSpPr>
          <p:nvPr/>
        </p:nvCxnSpPr>
        <p:spPr>
          <a:xfrm>
            <a:off x="3107026" y="3763849"/>
            <a:ext cx="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a:stCxn id="8" idx="2"/>
          </p:cNvCxnSpPr>
          <p:nvPr/>
        </p:nvCxnSpPr>
        <p:spPr>
          <a:xfrm flipH="1">
            <a:off x="3102218" y="3763849"/>
            <a:ext cx="4808" cy="30667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9" name="Straight Arrow Connector 38"/>
          <p:cNvCxnSpPr>
            <a:stCxn id="9" idx="3"/>
          </p:cNvCxnSpPr>
          <p:nvPr/>
        </p:nvCxnSpPr>
        <p:spPr>
          <a:xfrm>
            <a:off x="4327300" y="4402158"/>
            <a:ext cx="721218"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1" name="Diamond 40"/>
          <p:cNvSpPr/>
          <p:nvPr/>
        </p:nvSpPr>
        <p:spPr>
          <a:xfrm>
            <a:off x="5047721" y="3876390"/>
            <a:ext cx="2002668" cy="1067804"/>
          </a:xfrm>
          <a:prstGeom prst="diamond">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t>Disease Found ?</a:t>
            </a:r>
            <a:endParaRPr lang="en-IN" dirty="0"/>
          </a:p>
        </p:txBody>
      </p:sp>
      <p:sp>
        <p:nvSpPr>
          <p:cNvPr id="46" name="Rectangle 45"/>
          <p:cNvSpPr/>
          <p:nvPr/>
        </p:nvSpPr>
        <p:spPr>
          <a:xfrm>
            <a:off x="5207087" y="3002452"/>
            <a:ext cx="1667818" cy="54205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t>Identify Disease Type</a:t>
            </a:r>
            <a:endParaRPr lang="en-IN" dirty="0"/>
          </a:p>
        </p:txBody>
      </p:sp>
      <p:cxnSp>
        <p:nvCxnSpPr>
          <p:cNvPr id="48" name="Straight Arrow Connector 47"/>
          <p:cNvCxnSpPr>
            <a:stCxn id="46" idx="0"/>
            <a:endCxn id="49" idx="2"/>
          </p:cNvCxnSpPr>
          <p:nvPr/>
        </p:nvCxnSpPr>
        <p:spPr>
          <a:xfrm flipV="1">
            <a:off x="6040996" y="2526544"/>
            <a:ext cx="1" cy="47590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9" name="Rectangle 48"/>
          <p:cNvSpPr/>
          <p:nvPr/>
        </p:nvSpPr>
        <p:spPr>
          <a:xfrm>
            <a:off x="5207088" y="2024268"/>
            <a:ext cx="1667817" cy="50227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t>Suggest Treatments</a:t>
            </a:r>
            <a:endParaRPr lang="en-IN" dirty="0"/>
          </a:p>
        </p:txBody>
      </p:sp>
      <p:sp>
        <p:nvSpPr>
          <p:cNvPr id="52" name="TextBox 51"/>
          <p:cNvSpPr txBox="1"/>
          <p:nvPr/>
        </p:nvSpPr>
        <p:spPr>
          <a:xfrm>
            <a:off x="6165768" y="3637358"/>
            <a:ext cx="785611" cy="369332"/>
          </a:xfrm>
          <a:prstGeom prst="rect">
            <a:avLst/>
          </a:prstGeom>
          <a:noFill/>
        </p:spPr>
        <p:txBody>
          <a:bodyPr wrap="square" rtlCol="0">
            <a:spAutoFit/>
          </a:bodyPr>
          <a:lstStyle/>
          <a:p>
            <a:r>
              <a:rPr lang="en-US" dirty="0" smtClean="0"/>
              <a:t>YES</a:t>
            </a:r>
            <a:endParaRPr lang="en-IN" dirty="0"/>
          </a:p>
        </p:txBody>
      </p:sp>
      <p:cxnSp>
        <p:nvCxnSpPr>
          <p:cNvPr id="65" name="Straight Arrow Connector 64"/>
          <p:cNvCxnSpPr>
            <a:stCxn id="49" idx="0"/>
          </p:cNvCxnSpPr>
          <p:nvPr/>
        </p:nvCxnSpPr>
        <p:spPr>
          <a:xfrm flipH="1" flipV="1">
            <a:off x="6040996" y="1678822"/>
            <a:ext cx="1" cy="34544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67" name="Rectangle 66"/>
          <p:cNvSpPr/>
          <p:nvPr/>
        </p:nvSpPr>
        <p:spPr>
          <a:xfrm>
            <a:off x="5207088" y="869324"/>
            <a:ext cx="1667818" cy="798491"/>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t>Display Results To User</a:t>
            </a:r>
            <a:endParaRPr lang="en-IN" dirty="0"/>
          </a:p>
        </p:txBody>
      </p:sp>
      <p:sp>
        <p:nvSpPr>
          <p:cNvPr id="68" name="Oval 67"/>
          <p:cNvSpPr/>
          <p:nvPr/>
        </p:nvSpPr>
        <p:spPr>
          <a:xfrm>
            <a:off x="7907628" y="895003"/>
            <a:ext cx="1532586" cy="72166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t>END</a:t>
            </a:r>
            <a:endParaRPr lang="en-IN" dirty="0"/>
          </a:p>
        </p:txBody>
      </p:sp>
      <p:cxnSp>
        <p:nvCxnSpPr>
          <p:cNvPr id="70" name="Straight Arrow Connector 69"/>
          <p:cNvCxnSpPr>
            <a:stCxn id="67" idx="3"/>
            <a:endCxn id="68" idx="2"/>
          </p:cNvCxnSpPr>
          <p:nvPr/>
        </p:nvCxnSpPr>
        <p:spPr>
          <a:xfrm flipV="1">
            <a:off x="6874906" y="1255833"/>
            <a:ext cx="1032722" cy="1273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80" name="Straight Arrow Connector 79"/>
          <p:cNvCxnSpPr>
            <a:stCxn id="41" idx="2"/>
          </p:cNvCxnSpPr>
          <p:nvPr/>
        </p:nvCxnSpPr>
        <p:spPr>
          <a:xfrm>
            <a:off x="6049055" y="4944194"/>
            <a:ext cx="0" cy="39581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82" name="Rectangle 81"/>
          <p:cNvSpPr/>
          <p:nvPr/>
        </p:nvSpPr>
        <p:spPr>
          <a:xfrm>
            <a:off x="5093595" y="5340719"/>
            <a:ext cx="1857784" cy="60530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t>Crop is healthy</a:t>
            </a:r>
            <a:endParaRPr lang="en-IN" dirty="0"/>
          </a:p>
        </p:txBody>
      </p:sp>
      <p:sp>
        <p:nvSpPr>
          <p:cNvPr id="83" name="TextBox 82"/>
          <p:cNvSpPr txBox="1"/>
          <p:nvPr/>
        </p:nvSpPr>
        <p:spPr>
          <a:xfrm>
            <a:off x="5244525" y="4906745"/>
            <a:ext cx="614967" cy="369332"/>
          </a:xfrm>
          <a:prstGeom prst="rect">
            <a:avLst/>
          </a:prstGeom>
          <a:noFill/>
        </p:spPr>
        <p:txBody>
          <a:bodyPr wrap="square" rtlCol="0">
            <a:spAutoFit/>
          </a:bodyPr>
          <a:lstStyle/>
          <a:p>
            <a:r>
              <a:rPr lang="en-US" dirty="0" smtClean="0"/>
              <a:t>NO</a:t>
            </a:r>
            <a:endParaRPr lang="en-IN" dirty="0"/>
          </a:p>
        </p:txBody>
      </p:sp>
      <p:cxnSp>
        <p:nvCxnSpPr>
          <p:cNvPr id="85" name="Straight Arrow Connector 84"/>
          <p:cNvCxnSpPr>
            <a:stCxn id="82" idx="3"/>
          </p:cNvCxnSpPr>
          <p:nvPr/>
        </p:nvCxnSpPr>
        <p:spPr>
          <a:xfrm flipV="1">
            <a:off x="6951379" y="5636933"/>
            <a:ext cx="521591" cy="644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86" name="Rectangle 85"/>
          <p:cNvSpPr/>
          <p:nvPr/>
        </p:nvSpPr>
        <p:spPr>
          <a:xfrm>
            <a:off x="7559103" y="5340012"/>
            <a:ext cx="2060620" cy="61170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t>Future Growth Suggestion</a:t>
            </a:r>
            <a:endParaRPr lang="en-IN" dirty="0"/>
          </a:p>
        </p:txBody>
      </p:sp>
      <p:sp>
        <p:nvSpPr>
          <p:cNvPr id="87" name="Oval 86"/>
          <p:cNvSpPr/>
          <p:nvPr/>
        </p:nvSpPr>
        <p:spPr>
          <a:xfrm>
            <a:off x="7946264" y="4037312"/>
            <a:ext cx="1455313" cy="757654"/>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t>END</a:t>
            </a:r>
            <a:endParaRPr lang="en-IN" dirty="0"/>
          </a:p>
        </p:txBody>
      </p:sp>
      <p:cxnSp>
        <p:nvCxnSpPr>
          <p:cNvPr id="89" name="Straight Arrow Connector 88"/>
          <p:cNvCxnSpPr/>
          <p:nvPr/>
        </p:nvCxnSpPr>
        <p:spPr>
          <a:xfrm flipV="1">
            <a:off x="8673921" y="4843428"/>
            <a:ext cx="0" cy="50313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90" name="TextBox 89"/>
          <p:cNvSpPr txBox="1"/>
          <p:nvPr/>
        </p:nvSpPr>
        <p:spPr>
          <a:xfrm>
            <a:off x="212521" y="142220"/>
            <a:ext cx="2162040" cy="400110"/>
          </a:xfrm>
          <a:prstGeom prst="rect">
            <a:avLst/>
          </a:prstGeom>
          <a:noFill/>
        </p:spPr>
        <p:txBody>
          <a:bodyPr wrap="square" rtlCol="0">
            <a:spAutoFit/>
          </a:bodyPr>
          <a:lstStyle/>
          <a:p>
            <a:r>
              <a:rPr lang="en-US" sz="2000" b="1" dirty="0" smtClean="0"/>
              <a:t>Flow Diagram :-</a:t>
            </a:r>
            <a:endParaRPr lang="en-IN" sz="2000" b="1" dirty="0"/>
          </a:p>
        </p:txBody>
      </p:sp>
      <p:cxnSp>
        <p:nvCxnSpPr>
          <p:cNvPr id="102" name="Straight Arrow Connector 101"/>
          <p:cNvCxnSpPr>
            <a:stCxn id="41" idx="0"/>
          </p:cNvCxnSpPr>
          <p:nvPr/>
        </p:nvCxnSpPr>
        <p:spPr>
          <a:xfrm flipV="1">
            <a:off x="6049055" y="3555475"/>
            <a:ext cx="7241" cy="32091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53334508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pPr algn="ctr"/>
            <a:r>
              <a:rPr lang="en-US" sz="6000" dirty="0" smtClean="0">
                <a:solidFill>
                  <a:srgbClr val="FF0000"/>
                </a:solidFill>
              </a:rPr>
              <a:t>THANK YOU</a:t>
            </a:r>
            <a:endParaRPr lang="en-IN" sz="6000" dirty="0">
              <a:solidFill>
                <a:srgbClr val="FF0000"/>
              </a:solidFill>
            </a:endParaRPr>
          </a:p>
        </p:txBody>
      </p:sp>
    </p:spTree>
    <p:extLst>
      <p:ext uri="{BB962C8B-B14F-4D97-AF65-F5344CB8AC3E}">
        <p14:creationId xmlns:p14="http://schemas.microsoft.com/office/powerpoint/2010/main" val="3146498668"/>
      </p:ext>
    </p:extLst>
  </p:cSld>
  <p:clrMapOvr>
    <a:masterClrMapping/>
  </p:clrMapOvr>
  <p:timing>
    <p:tnLst>
      <p:par>
        <p:cTn id="1" dur="indefinite" restart="never" nodeType="tmRoot"/>
      </p:par>
    </p:tn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281</TotalTime>
  <Words>263</Words>
  <Application>Microsoft Office PowerPoint</Application>
  <PresentationFormat>Widescreen</PresentationFormat>
  <Paragraphs>49</Paragraphs>
  <Slides>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Arial</vt:lpstr>
      <vt:lpstr>Times New Roman</vt:lpstr>
      <vt:lpstr>Trebuchet MS</vt:lpstr>
      <vt:lpstr>Wingdings 3</vt:lpstr>
      <vt:lpstr>Facet</vt:lpstr>
      <vt:lpstr>CROP DISEASE DETECTION SYSTEM   </vt:lpstr>
      <vt:lpstr>GROUP MEMBERS:-</vt:lpstr>
      <vt:lpstr>PROBLEM STATEMENT:-</vt:lpstr>
      <vt:lpstr>OBJECTIVE:-</vt:lpstr>
      <vt:lpstr>Proposed Solution :-</vt:lpstr>
      <vt:lpstr>PowerPoint Presentation</vt:lpstr>
      <vt:lpstr>THANK YOU</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CROP CARE AI</dc:title>
  <dc:creator>Microsoft account</dc:creator>
  <cp:lastModifiedBy>Microsoft account</cp:lastModifiedBy>
  <cp:revision>27</cp:revision>
  <dcterms:created xsi:type="dcterms:W3CDTF">2026-02-07T14:38:37Z</dcterms:created>
  <dcterms:modified xsi:type="dcterms:W3CDTF">2026-02-09T09:42:02Z</dcterms:modified>
</cp:coreProperties>
</file>